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645920"/>
            <a:ext cx="4572000" cy="4572000"/>
          </a:xfrm>
          <a:prstGeom prst="ellipse">
            <a:avLst/>
          </a:prstGeom>
          <a:solidFill>
            <a:srgbClr val="02C39A">
              <a:alpha val="20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0" y="2926080"/>
            <a:ext cx="2743200" cy="2743200"/>
          </a:xfrm>
          <a:prstGeom prst="ellipse">
            <a:avLst/>
          </a:prstGeom>
          <a:solidFill>
            <a:srgbClr val="E8EEFC">
              <a:alpha val="10000"/>
            </a:srgbClr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LINX · ENGINEERING PRE-KICKOFF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Agentic AI Governance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on what we know. Name what we don't. Start moving.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840480"/>
            <a:ext cx="548640" cy="457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1148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Sunday · 27 April 2026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Omri Lorch · Product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problem space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makes agents different?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"Agents are like humans on steroids — they don't sleep, they don't wait, they operate at machine speed."  — Mor Shabi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82880" y="1920240"/>
            <a:ext cx="2743200" cy="2286000"/>
          </a:xfrm>
          <a:prstGeom prst="ellipse">
            <a:avLst/>
          </a:prstGeom>
          <a:solidFill>
            <a:srgbClr val="7C3AED">
              <a:alpha val="4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0" y="2057400"/>
            <a:ext cx="2743200" cy="2286000"/>
          </a:xfrm>
          <a:prstGeom prst="ellipse">
            <a:avLst/>
          </a:prstGeom>
          <a:solidFill>
            <a:srgbClr val="02C39A">
              <a:alpha val="50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26480" y="1920240"/>
            <a:ext cx="2743200" cy="2286000"/>
          </a:xfrm>
          <a:prstGeom prst="ellipse">
            <a:avLst/>
          </a:prstGeom>
          <a:solidFill>
            <a:srgbClr val="F59E0B">
              <a:alpha val="4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21488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383280" y="2286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21488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8600" y="26974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Judicious · Static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permissions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28600" y="3566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Socially exploitable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over-permissioned over time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91840" y="281635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· Goal-based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Nondeterministic · LLM-powered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Context-aware · Iterative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91840" y="36576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Manipulable via inputs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dangerous when over-trusted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17920" y="26974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Restless · Works at scale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Permission-greedy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17920" y="3566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Misconfigurations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long-lived secrets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The full 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“agent IAM” actually means.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10-capability framework (“IAM for LLM-Based AI Agents”). Grouped by theme — not phases.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2011680"/>
            <a:ext cx="2743200" cy="38404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011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395728"/>
            <a:ext cx="2743200" cy="2176272"/>
          </a:xfrm>
          <a:prstGeom prst="rect">
            <a:avLst/>
          </a:prstGeom>
          <a:solidFill>
            <a:srgbClr val="E8EEFC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551176"/>
            <a:ext cx="274320" cy="2743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5511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251460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&amp; identification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72384"/>
            <a:ext cx="274320" cy="2743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072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3035808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assignment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593592"/>
            <a:ext cx="274320" cy="2743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593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14400" y="3557016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274320" cy="2743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4400" y="4078224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 &amp; observability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00400" y="2011680"/>
            <a:ext cx="2743200" cy="384048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0" y="2011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200400" y="2395728"/>
            <a:ext cx="2743200" cy="2176272"/>
          </a:xfrm>
          <a:prstGeom prst="rect">
            <a:avLst/>
          </a:prstGeom>
          <a:solidFill>
            <a:srgbClr val="E8EEFC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0" y="2551176"/>
            <a:ext cx="274320" cy="274320"/>
          </a:xfrm>
          <a:prstGeom prst="ellipse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83280" y="25511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749040" y="251460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&amp; delegation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383280" y="3072384"/>
            <a:ext cx="274320" cy="274320"/>
          </a:xfrm>
          <a:prstGeom prst="ellipse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83280" y="3072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749040" y="3035808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oversight &amp; approval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383280" y="3593592"/>
            <a:ext cx="274320" cy="274320"/>
          </a:xfrm>
          <a:prstGeom prst="ellipse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3280" y="3593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749040" y="3557016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policy enforcement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035040" y="2011680"/>
            <a:ext cx="2743200" cy="3840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35040" y="2011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035040" y="2395728"/>
            <a:ext cx="2743200" cy="2176272"/>
          </a:xfrm>
          <a:prstGeom prst="rect">
            <a:avLst/>
          </a:prstGeom>
          <a:solidFill>
            <a:srgbClr val="E8EEFC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17920" y="2551176"/>
            <a:ext cx="274320" cy="2743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17920" y="25511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583680" y="251460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lifecycle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17920" y="3072384"/>
            <a:ext cx="274320" cy="2743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217920" y="3072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583680" y="3035808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Auditability &amp; logging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217920" y="3593592"/>
            <a:ext cx="274320" cy="2743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17920" y="3593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583680" y="3557016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collaboration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 covers the full Visibility group + Authorization + Resource policy + Auditability. Everything else is post-P0.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9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Where we are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been started.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visibility layer is live. M2 is ~74% in. Some work may cover P0 needs — Omri will verify with Mor.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4114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· Agent visibility layer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graph model · Discovery &gt; Agents UI · agent entity page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issues: AGENT_EXCESSIVE_PERMISSIONS · AGENT_OWNER_OFFBOARDED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Connectors: Gemini · Vertex AI · Amazon Bedrock · n8n</a:t>
            </a:r>
            <a:endParaRPr lang="en-US" sz="14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 · Access Intelligence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~74% in progress. Credential discovery, NHI→agent map, OAuth scope viz.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26% is where the original approach hit the wall.</a:t>
            </a:r>
            <a:endParaRPr lang="en-US" sz="1400" dirty="0"/>
          </a:p>
        </p:txBody>
      </p:sp>
      <p:pic>
        <p:nvPicPr>
          <p:cNvPr id="7" name="Image 0" descr="/tmp/mor-pics/slide12_16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46320" y="1600200"/>
            <a:ext cx="3840480" cy="2560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846320" y="420624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Linx · agent detail page (in product)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solidFill>
            <a:srgbClr val="E8EE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Enterprise: still in Backlog  ·  Copilot Studio direct connector: Canceled (Jan 2026)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9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What we tried first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original approach.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931920" cy="274320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91640"/>
            <a:ext cx="73152" cy="2743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plan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24028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 agents using the same IAM APIs that power human + NHI governance.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graph already connected to every app.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request flows already built.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discovery already in motion (M2).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extension of what we already do for humans and NHIs.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53128" y="3063240"/>
            <a:ext cx="502920" cy="0"/>
          </a:xfrm>
          <a:prstGeom prst="line">
            <a:avLst/>
          </a:prstGeom>
          <a:noFill/>
          <a:ln w="25400">
            <a:solidFill>
              <a:srgbClr val="0F1B3D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029200" y="1691640"/>
            <a:ext cx="3749040" cy="274320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0" y="1691640"/>
            <a:ext cx="73152" cy="2743200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12080" y="1783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happened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212080" y="224028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access doesn't map to the IAM API surface.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Ephemeral:</a:t>
            </a:r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sessions spin up/down in seconds — no persistent identity to track.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Intent-driven:</a:t>
            </a:r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access isn't pre-declared — it's determined at runtime based on task context.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Multi-hop:</a:t>
            </a:r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 agent call chains through tools, MCP servers, and downstream apps — not a single entitlement check.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solidFill>
            <a:srgbClr val="F59E0B">
              <a:alpha val="2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useful discovery. We now know exactly what the next layer must do.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The new approach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Gateway.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 agents at the protocol layer — one enforcement point between every agent and every tool.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1828800" cy="1188720"/>
          </a:xfrm>
          <a:prstGeom prst="roundRect">
            <a:avLst>
              <a:gd name="adj" fmla="val 6154"/>
            </a:avLst>
          </a:prstGeom>
          <a:solidFill>
            <a:srgbClr val="1A2545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423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7889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· Claude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· n8n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31720" y="2926080"/>
            <a:ext cx="68580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108960" y="2194560"/>
            <a:ext cx="2926080" cy="1463040"/>
          </a:xfrm>
          <a:prstGeom prst="roundRect">
            <a:avLst>
              <a:gd name="adj" fmla="val 6250"/>
            </a:avLst>
          </a:prstGeom>
          <a:solidFill>
            <a:srgbClr val="0F1B3D"/>
          </a:solidFill>
          <a:ln w="381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08960" y="2331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GATEWAY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108960" y="27432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· policy · audit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08960" y="3108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call, policy-checked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80760" y="2926080"/>
            <a:ext cx="68580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58000" y="2331720"/>
            <a:ext cx="1828800" cy="1188720"/>
          </a:xfrm>
          <a:prstGeom prst="roundRect">
            <a:avLst>
              <a:gd name="adj" fmla="val 6154"/>
            </a:avLst>
          </a:prstGeom>
          <a:solidFill>
            <a:srgbClr val="1A2545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0" y="2423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· TOOLS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858000" y="27889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· Linear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Notions · Postgres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concept / whiteboard.  </a:t>
            </a:r>
            <a:pPr indent="0" marL="0">
              <a:buNone/>
            </a:pPr>
            <a:r>
              <a:rPr lang="en-US" sz="12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Sarit + Amir Ben Ami leading architecture.  </a:t>
            </a:r>
            <a:pPr indent="0" marL="0">
              <a:buNone/>
            </a:pPr>
            <a:r>
              <a:rPr lang="en-US" sz="12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79 AI priority.  </a:t>
            </a:r>
            <a:pPr indent="0" marL="0">
              <a:buNone/>
            </a:pPr>
            <a:r>
              <a:rPr lang="en-US" sz="1200" i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Market: Saviynt, Token Security, Astrix converging here.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P0 scope — the demo target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building first.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Sarit's session. Some pieces may exist in M1/M2 — Omri will connect the dots.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2011680"/>
            <a:ext cx="27432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011680"/>
            <a:ext cx="274320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1945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514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Gateway Core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3017520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protocol-layer enforcement point. Every agent → tool call flows through it.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Identity-aware, loggable, policy-checkable.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1879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 research starts here.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2011680"/>
            <a:ext cx="27432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2011680"/>
            <a:ext cx="274320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0" y="21945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474720" y="2514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Policy Agent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474720" y="3017520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profiles for agents: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At the MCP / platform level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AND at the individual tool level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Granular, not binary.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2011680"/>
            <a:ext cx="27432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35040" y="2011680"/>
            <a:ext cx="274320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21945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09360" y="2514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Screens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309360" y="3017520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"Integration" tab for MCPs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— three views: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System Logs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Governance Logs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All Access Logs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Identiverse · June 15 · harsh deadline.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Post-P0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this goes next.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4160520" cy="137160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91640"/>
            <a:ext cx="73152" cy="137160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56232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JIT with Gateway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2313432"/>
            <a:ext cx="3703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On-the-fly access grants, with or without human-in-the-loop. Ephemeral, scoped per task.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00600" y="1691640"/>
            <a:ext cx="4160520" cy="137160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1691640"/>
            <a:ext cx="73152" cy="137160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1856232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JML for Agents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74920" y="2313432"/>
            <a:ext cx="3703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Joiner / mover / leaver lifecycle. Owner offboarded? Their agents don't linger.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4160520" cy="137160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246120"/>
            <a:ext cx="73152" cy="137160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410712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Onboarding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31520" y="3867912"/>
            <a:ext cx="3703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for connecting apps to the Gateway. Secured setup — self-service, not a services engagement.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00600" y="3246120"/>
            <a:ext cx="4160520" cy="137160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0600" y="3246120"/>
            <a:ext cx="73152" cy="137160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3410712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Intent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074920" y="3867912"/>
            <a:ext cx="3703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+ behavior + context + data sensitivity, continuously evaluated. The vision horizon.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Sequenced after P0. Omri scopes these in parallel with competitor research.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4572000" cy="4572000"/>
          </a:xfrm>
          <a:prstGeom prst="ellipse">
            <a:avLst/>
          </a:prstGeom>
          <a:solidFill>
            <a:srgbClr val="02C39A">
              <a:alpha val="15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What we leave with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 · Don't know · Start.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320040" y="1737360"/>
            <a:ext cx="2743200" cy="34747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7373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KNOW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2084832"/>
            <a:ext cx="2743200" cy="2304288"/>
          </a:xfrm>
          <a:prstGeom prst="rect">
            <a:avLst/>
          </a:prstGeom>
          <a:solidFill>
            <a:srgbClr val="091230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221992"/>
            <a:ext cx="2377440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Deadline: Identiverse, June 15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 lead: Sarit + Amir Ben Ami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P0: Gateway Core, Policy Agent, Screens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 layer started (M1 + M2 in flight)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1737360"/>
            <a:ext cx="2743200" cy="3474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17373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DON'T KNOW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2084832"/>
            <a:ext cx="2743200" cy="2304288"/>
          </a:xfrm>
          <a:prstGeom prst="rect">
            <a:avLst/>
          </a:prstGeom>
          <a:solidFill>
            <a:srgbClr val="09123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83280" y="2221992"/>
            <a:ext cx="2377440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Gateway Core actually looks like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options and coverage trade-offs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M2 work feeds in vs. pauses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P0 status — what's done vs. started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80760" y="1737360"/>
            <a:ext cx="2743200" cy="347472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80760" y="17373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START NOW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80760" y="2084832"/>
            <a:ext cx="2743200" cy="2304288"/>
          </a:xfrm>
          <a:prstGeom prst="rect">
            <a:avLst/>
          </a:prstGeom>
          <a:solidFill>
            <a:srgbClr val="091230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3640" y="2221992"/>
            <a:ext cx="2377440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Eng: research Gateway Core — options, coverage, POC plan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Omri: market + competitor scan (share what we have)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Omri: scope P0 remainder + post-P0 in parallel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in 2 weeks — next cycle review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5720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TO THE ROOM:  </a:t>
            </a:r>
            <a:pPr indent="0" marL="0">
              <a:buNone/>
            </a:pPr>
            <a:r>
              <a:rPr lang="en-US" sz="1300" b="1" i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from M1 / M2 do you think already covers parts of P0?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Engineering Pre-Kickoff — AI Governance</dc:title>
  <dc:subject>PptxGenJS Presentation</dc:subject>
  <dc:creator>Omri Lorch</dc:creator>
  <cp:lastModifiedBy>Omri Lorch</cp:lastModifiedBy>
  <cp:revision>1</cp:revision>
  <dcterms:created xsi:type="dcterms:W3CDTF">2026-04-24T06:29:19Z</dcterms:created>
  <dcterms:modified xsi:type="dcterms:W3CDTF">2026-04-24T06:29:19Z</dcterms:modified>
</cp:coreProperties>
</file>